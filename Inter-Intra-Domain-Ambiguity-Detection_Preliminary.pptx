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8F8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1C8F8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 ·  PRELIMINARY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Inter and Intra Domain-Specific Ambiguity (Polysemous Words) from Natural Language Software Requirements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context-aware framework for detecting and classifying lexical ambiguity in Software Requirement Specifications (SRS)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6949440" cy="2148840"/>
          </a:xfrm>
          <a:prstGeom prst="roundRect">
            <a:avLst>
              <a:gd name="adj" fmla="val 3404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Kumar Singh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2301020425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(Cloud Computing)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Roshni Kumari Singh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2301020426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4864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(Cloud Computing)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52486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Ravupalli Nikhila Patnaik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52486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2301020756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52486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(AIML)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56327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Subhasis Purohit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56327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2301020759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5632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(AIML)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63840" y="3886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3816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38160" y="4370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Siba Mishra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8160" y="4892040"/>
            <a:ext cx="3017520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5029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C.V. Raman Global University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Bhubaneswar, Odisha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 Engineering (SRE) is a critical phase of the SDLC. Requirements are typically written in natural language for stakeholder readability, but natural language is inherently ambiguous — making precise interpretation difficult and increasing the risk of costly rework.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03520" cy="3794760"/>
          </a:xfrm>
          <a:prstGeom prst="roundRect">
            <a:avLst>
              <a:gd name="adj" fmla="val 1928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980944"/>
            <a:ext cx="109728" cy="109728"/>
          </a:xfrm>
          <a:prstGeom prst="ellipse">
            <a:avLst/>
          </a:prstGeom>
          <a:solidFill>
            <a:srgbClr val="E8935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5292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can be interpreted in more than one way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639312"/>
            <a:ext cx="109728" cy="109728"/>
          </a:xfrm>
          <a:prstGeom prst="ellipse">
            <a:avLst/>
          </a:prstGeom>
          <a:solidFill>
            <a:srgbClr val="E8935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1129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Vagueness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lack measurable precision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297680"/>
            <a:ext cx="109728" cy="109728"/>
          </a:xfrm>
          <a:prstGeom prst="ellipse">
            <a:avLst/>
          </a:prstGeom>
          <a:solidFill>
            <a:srgbClr val="E8935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6966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statements exist within the SRS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956048"/>
            <a:ext cx="109728" cy="109728"/>
          </a:xfrm>
          <a:prstGeom prst="ellipse">
            <a:avLst/>
          </a:prstGeom>
          <a:solidFill>
            <a:srgbClr val="E8935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2803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overlapping requirements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60527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these, lexical ambiguity caused by polysemous words is the hardest to resolve — it originates from individual words, and correct interpretation depends entirely on surrounding context.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33172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EXISTING 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926080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86600" y="290779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lexical ambiguity but do not distinguish Inter-Domain from Intra-Domain ambiguity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840480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382219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little explanation of the source or type of ambiguity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4754880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473659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a dedicated framework that classifies polysemous words using domain-specific context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57150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systems increasingly integrate healthcare, finance, networking, and cloud concepts, classifying the type of ambiguity is as important as detecting it.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Polysemous Words &amp; Types of Ambiguity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polysemous word carries multiple related meanings, with the correct sense determined entirely by context. The same word can create ambiguity in two distinct ways: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1C8F8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INTER-DOMAIN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word, different domains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polysemous word carries entirely different meanings across different application domains.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611880"/>
            <a:ext cx="4846320" cy="2286000"/>
          </a:xfrm>
          <a:prstGeom prst="roundRect">
            <a:avLst>
              <a:gd name="adj" fmla="val 2400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749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"Port"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160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Port for application communication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47274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Shipping: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/ seaport where ships dock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43000" y="52943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Healthcare: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port used for IV access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20116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224028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E893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2402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INTRA-DOMAIN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2651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word, same domain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0175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meanings exist for the word even while staying within a single application domain.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3611880"/>
            <a:ext cx="4892040" cy="2286000"/>
          </a:xfrm>
          <a:prstGeom prst="roundRect">
            <a:avLst>
              <a:gd name="adj" fmla="val 2400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749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"Service" (Software Engineering)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4233672"/>
            <a:ext cx="91440" cy="91440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1330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75120" y="4654296"/>
            <a:ext cx="91440" cy="91440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45537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75120" y="5074920"/>
            <a:ext cx="91440" cy="91440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97433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75120" y="5495544"/>
            <a:ext cx="91440" cy="91440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5394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Module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Ambiguity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categorizes ambiguity into four types: Lexical (word-level, e.g. polysemous words), Syntactic (sentence structure), Semantic (unclear overall meaning), and Pragmatic (context/stakeholder dependent, e.g. "fast", "secure").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783080"/>
            <a:ext cx="457200" cy="457200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Polysemous Word Detection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detection relies on lexical knowledge bases — WordNet (synsets) and BabelNet (multilingual, Wikipedia-linked). These identify ambiguous words but depend on static resources with limited domain-specific coverage.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783080"/>
            <a:ext cx="457200" cy="457200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331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Sense Disambiguation (WSD)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0" y="297180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 determines a word's correct meaning from context. Approaches range from knowledge-based (WordNet similarity) to supervised learning to transformer-based models (BERT, RoBERTa, SpanBERT) using contextual embeddings.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limitation: none of these techniques distinguish whether ambiguity arises across domains (Inter-Domain) or within one domain (Intra-Domain).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Papers Reviewed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1C8F8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· 2025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SpanBERT + NER for Ambiguity Detection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 et al.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Semiautomated framework detecting anaphoric, coordination, and missing-condition ambiguities using SpanBERT and Named Entity Recognition. Evaluated on 425 functional requirements across 16 domains.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5074920"/>
            <a:ext cx="3063240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166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sentence-level ambiguity; no lexical / domain-specific classification.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50876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73736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1C8F86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737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2148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Embeddings + K-Means Clustering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63440" y="2788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Moharil et al.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310896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Intra-Domain ambiguity by generating BERT-based contextual embeddings for polysemous words and grouping similar senses via clustering, on a CS corpus and multi-domain Wikipedia data.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5074920"/>
            <a:ext cx="3063240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5166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only a single domain; no explainability; not SRS-specific.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50876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0" y="173736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1C8F86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1737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2148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Ambiguity via Word Embedding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12480" y="2788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Siba et al.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12480" y="310896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semantic similarity of computer-science terms across domains using tokenization, POS tagging, lemmatization, and word embeddings to flag context-dependent meaning shifts.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12480" y="5074920"/>
            <a:ext cx="3063240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5166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similarity only; no explicit Inter/Intra classification or explanation.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&amp; Research Gap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2148840"/>
        </p:xfrm>
        <a:graphic>
          <a:graphicData uri="http://schemas.openxmlformats.org/drawingml/2006/table">
            <a:tbl>
              <a:tblPr/>
              <a:tblGrid>
                <a:gridCol w="1828800"/>
                <a:gridCol w="2880360"/>
                <a:gridCol w="1051560"/>
                <a:gridCol w="1143000"/>
                <a:gridCol w="1463040"/>
                <a:gridCol w="1280160"/>
                <a:gridCol w="12344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Intra-Domain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Talha et al.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SpanBERT + 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C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C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Moharil et 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+ K-Means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C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C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C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Siba et 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Embedding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C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C4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Context-aware Semantic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C4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C4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C4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C4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C4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C4B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886200"/>
            <a:ext cx="10881360" cy="2240280"/>
          </a:xfrm>
          <a:prstGeom prst="roundRect">
            <a:avLst>
              <a:gd name="adj" fmla="val 3265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GAP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effectively detect ambiguous words but focus on identifying ambiguity rather than determining its origin. None explicitly distinguish Inter-Domain ambiguity (different meanings across application domains) from Intra-Domain ambiguity (multiple meanings within the same domain) — and most provide limited explainability regarding why a word was classified as ambiguous.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in domain-aware classification and explanation of polysemous words in SRS forms the basis of the proposed research.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 —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existing approaches that primarily detect ambiguous words, the proposed model determines the type of ambiguity by analyzing contextual meaning through a sequential, seven-stage pipeline.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413401" cy="1554480"/>
          </a:xfrm>
          <a:prstGeom prst="roundRect">
            <a:avLst>
              <a:gd name="adj" fmla="val 4529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834640"/>
            <a:ext cx="130367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Software Requirement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00477" y="3986784"/>
            <a:ext cx="292608" cy="292608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8" name="Text 6"/>
          <p:cNvSpPr/>
          <p:nvPr/>
        </p:nvSpPr>
        <p:spPr>
          <a:xfrm>
            <a:off x="1200477" y="3986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3481" y="320040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18073" y="2743200"/>
            <a:ext cx="1413401" cy="1554480"/>
          </a:xfrm>
          <a:prstGeom prst="roundRect">
            <a:avLst>
              <a:gd name="adj" fmla="val 4529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72937" y="2834640"/>
            <a:ext cx="130367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Preprocessing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78470" y="3986784"/>
            <a:ext cx="292608" cy="292608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13" name="Text 11"/>
          <p:cNvSpPr/>
          <p:nvPr/>
        </p:nvSpPr>
        <p:spPr>
          <a:xfrm>
            <a:off x="2778470" y="3986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1474" y="320040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96066" y="2743200"/>
            <a:ext cx="1413401" cy="1554480"/>
          </a:xfrm>
          <a:prstGeom prst="roundRect">
            <a:avLst>
              <a:gd name="adj" fmla="val 4529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0930" y="2834640"/>
            <a:ext cx="130367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Polysemous Word Detection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56463" y="3986784"/>
            <a:ext cx="292608" cy="292608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18" name="Text 16"/>
          <p:cNvSpPr/>
          <p:nvPr/>
        </p:nvSpPr>
        <p:spPr>
          <a:xfrm>
            <a:off x="4356463" y="3986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09467" y="320040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374059" y="2743200"/>
            <a:ext cx="1413401" cy="1554480"/>
          </a:xfrm>
          <a:prstGeom prst="roundRect">
            <a:avLst>
              <a:gd name="adj" fmla="val 4529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8923" y="2834640"/>
            <a:ext cx="130367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Analysis &amp; Domain Identification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34456" y="3986784"/>
            <a:ext cx="292608" cy="292608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23" name="Text 21"/>
          <p:cNvSpPr/>
          <p:nvPr/>
        </p:nvSpPr>
        <p:spPr>
          <a:xfrm>
            <a:off x="5934456" y="3986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87461" y="320040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52053" y="2743200"/>
            <a:ext cx="1413401" cy="1554480"/>
          </a:xfrm>
          <a:prstGeom prst="roundRect">
            <a:avLst>
              <a:gd name="adj" fmla="val 4529"/>
            </a:avLst>
          </a:prstGeom>
          <a:solidFill>
            <a:srgbClr val="132A44"/>
          </a:solidFill>
          <a:ln w="19050">
            <a:solidFill>
              <a:srgbClr val="2BC4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6917" y="2834640"/>
            <a:ext cx="130367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/ Intra-Domain Classification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12449" y="3986784"/>
            <a:ext cx="292608" cy="292608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28" name="Text 26"/>
          <p:cNvSpPr/>
          <p:nvPr/>
        </p:nvSpPr>
        <p:spPr>
          <a:xfrm>
            <a:off x="7512449" y="3986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5454" y="320040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530046" y="2743200"/>
            <a:ext cx="1413401" cy="1554480"/>
          </a:xfrm>
          <a:prstGeom prst="roundRect">
            <a:avLst>
              <a:gd name="adj" fmla="val 4529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84910" y="2834640"/>
            <a:ext cx="130367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Score Computation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90442" y="3986784"/>
            <a:ext cx="292608" cy="292608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33" name="Text 31"/>
          <p:cNvSpPr/>
          <p:nvPr/>
        </p:nvSpPr>
        <p:spPr>
          <a:xfrm>
            <a:off x="9090442" y="3986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943447" y="320040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108039" y="2743200"/>
            <a:ext cx="1413401" cy="1554480"/>
          </a:xfrm>
          <a:prstGeom prst="roundRect">
            <a:avLst>
              <a:gd name="adj" fmla="val 4529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62903" y="2834640"/>
            <a:ext cx="130367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Ambiguity Report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668435" y="3986784"/>
            <a:ext cx="292608" cy="292608"/>
          </a:xfrm>
          <a:prstGeom prst="ellipse">
            <a:avLst/>
          </a:prstGeom>
          <a:solidFill>
            <a:srgbClr val="2BC4B8"/>
          </a:solidFill>
          <a:ln/>
        </p:spPr>
      </p:sp>
      <p:sp>
        <p:nvSpPr>
          <p:cNvPr id="38" name="Text 36"/>
          <p:cNvSpPr/>
          <p:nvPr/>
        </p:nvSpPr>
        <p:spPr>
          <a:xfrm>
            <a:off x="10668435" y="3986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output identifies the ambiguous word, its predicted ambiguity type (Inter- or Intra-Domain), and an explanation of its contextual interpretation.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NLP preprocessing, lexical resources (WordNet, BabelNet), and domain-specific knowledge to move from "is this ambiguous?" to "why and where is this ambiguous?"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Preprocessing &amp; Candidate Word Detection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03520" cy="4617720"/>
          </a:xfrm>
          <a:prstGeom prst="roundRect">
            <a:avLst>
              <a:gd name="adj" fmla="val 1584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PREPROCESSING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0848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Segmentation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requirement document into individual sentences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862072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84378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sentences into meaningful word tokens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621024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60273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words to their base / root form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379976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3616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grammatical roles (noun, verb, adjective)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5138928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51206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Parsing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syntactic relationships between words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POLYSEMOUS WORD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0574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text is scanned for words with more than one valid meaning using lexical resources: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2606040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1C8F86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26060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83880" y="2606040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1C8F86"/>
          </a:solidFill>
          <a:ln/>
        </p:spPr>
      </p:sp>
      <p:sp>
        <p:nvSpPr>
          <p:cNvPr id="27" name="Text 25"/>
          <p:cNvSpPr/>
          <p:nvPr/>
        </p:nvSpPr>
        <p:spPr>
          <a:xfrm>
            <a:off x="8183880" y="26060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BabelNet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21240" y="2606040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1C8F86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26060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Glossary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46520" y="3108960"/>
            <a:ext cx="4892040" cy="1920240"/>
          </a:xfrm>
          <a:prstGeom prst="roundRect">
            <a:avLst>
              <a:gd name="adj" fmla="val 2857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246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675120" y="356616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meanings found →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as Candidate Polysemous Word, forwarded to context analysis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meaning only →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is ignored (not ambiguous)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525780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filtering only potentially ambiguous words, this stage focuses analysis on terms most likely to cause misunderstanding.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Identification &amp; Ambiguity Classification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03520" cy="4617720"/>
          </a:xfrm>
          <a:prstGeom prst="roundRect">
            <a:avLst>
              <a:gd name="adj" fmla="val 1584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IDENTIFICATION &amp;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Extraction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neighboring words and sentence-level information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Representation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 via Sentence-BERT / RoBERTa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Identification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Healthcare, Finance, Networking, Manufacturing, etc.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domain + contextual representation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CRITERIA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2103120"/>
            <a:ext cx="4892040" cy="1234440"/>
          </a:xfrm>
          <a:prstGeom prst="roundRect">
            <a:avLst>
              <a:gd name="adj" fmla="val 4444"/>
            </a:avLst>
          </a:prstGeom>
          <a:solidFill>
            <a:srgbClr val="132A44"/>
          </a:solidFill>
          <a:ln w="12700">
            <a:solidFill>
              <a:srgbClr val="1C8F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2128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Inter-Domain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contextual meaning maps to different application domains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69748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→ Network Port (Software) vs. Harbor (Shipping) vs. Medical Port (Healthcare)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474720"/>
            <a:ext cx="4892040" cy="1234440"/>
          </a:xfrm>
          <a:prstGeom prst="roundRect">
            <a:avLst>
              <a:gd name="adj" fmla="val 4444"/>
            </a:avLst>
          </a:prstGeom>
          <a:solidFill>
            <a:srgbClr val="132A44"/>
          </a:solidFill>
          <a:ln w="12700">
            <a:solidFill>
              <a:srgbClr val="E893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5844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Intra-Domain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multiple valid meanings exist within the same domain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406908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 Web Service, Cloud Service, Background Service, Customer Service Module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48920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compares the candidate word's contextual representation with its possible senses to decide which category applies, then forwards the result to the decision module.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Score &amp; Proposed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03520" cy="4617720"/>
          </a:xfrm>
          <a:prstGeom prst="roundRect">
            <a:avLst>
              <a:gd name="adj" fmla="val 1584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SCORE FACTORS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0939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876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 between contextual meaning and possible senses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0998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Confidence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08760" y="34107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surrounding words support an interpretation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1056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Relevance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508760" y="44165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of the meaning with the identified domain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525780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0F2136"/>
          </a:solidFill>
          <a:ln w="12700">
            <a:solidFill>
              <a:srgbClr val="E89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578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above threshold → classify as Inter- or Intra-Domain ambiguous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3.1 — CONCEPTUAL STEPS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2103120"/>
            <a:ext cx="3200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66560" y="2103120"/>
            <a:ext cx="457200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software requirement text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2409444"/>
            <a:ext cx="3200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66560" y="2409444"/>
            <a:ext cx="457200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NLP preprocessing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2715768"/>
            <a:ext cx="3200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66560" y="2715768"/>
            <a:ext cx="457200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candidate polysemous words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46520" y="3022092"/>
            <a:ext cx="3200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66560" y="3022092"/>
            <a:ext cx="457200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contextual information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46520" y="3328416"/>
            <a:ext cx="3200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66560" y="3328416"/>
            <a:ext cx="457200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relevant application domain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3634740"/>
            <a:ext cx="3200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66560" y="3634740"/>
            <a:ext cx="457200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contextual semantic representation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46520" y="3941064"/>
            <a:ext cx="3200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66560" y="3941064"/>
            <a:ext cx="457200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ambiguity score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46520" y="4247388"/>
            <a:ext cx="3200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66560" y="4247388"/>
            <a:ext cx="457200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as Inter-Domain or Intra-Domain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46520" y="4553712"/>
            <a:ext cx="3200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66560" y="4553712"/>
            <a:ext cx="457200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final ambiguity report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Experimental Setup &amp;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E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framework is at the proposal stage and has not yet been implemented, this section presents the intended evaluation methodology rather than actual results.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88920" y="25146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Natural Language SRS benchmarks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971800"/>
            <a:ext cx="4754880" cy="0"/>
          </a:xfrm>
          <a:prstGeom prst="line">
            <a:avLst/>
          </a:prstGeom>
          <a:noFill/>
          <a:ln w="6350">
            <a:solidFill>
              <a:srgbClr val="2440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44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Tools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304495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Jupyter Notebook / VS 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502152"/>
            <a:ext cx="4754880" cy="0"/>
          </a:xfrm>
          <a:prstGeom prst="line">
            <a:avLst/>
          </a:prstGeom>
          <a:noFill/>
          <a:ln w="635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753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Libraries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357530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NLTK, spaCy, Hugging Face Transformers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32504"/>
            <a:ext cx="4754880" cy="0"/>
          </a:xfrm>
          <a:prstGeom prst="line">
            <a:avLst/>
          </a:prstGeom>
          <a:noFill/>
          <a:ln w="6350">
            <a:solidFill>
              <a:srgbClr val="2440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056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410565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or RoBERTa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562856"/>
            <a:ext cx="4754880" cy="0"/>
          </a:xfrm>
          <a:prstGeom prst="line">
            <a:avLst/>
          </a:prstGeom>
          <a:noFill/>
          <a:ln w="6350">
            <a:solidFill>
              <a:srgbClr val="2440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636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Resources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88920" y="46360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WordNet, BabelNet, Domain Glossary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5093208"/>
            <a:ext cx="4754880" cy="0"/>
          </a:xfrm>
          <a:prstGeom prst="line">
            <a:avLst/>
          </a:prstGeom>
          <a:noFill/>
          <a:ln w="6350">
            <a:solidFill>
              <a:srgbClr val="2440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66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88920" y="5166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5623560"/>
            <a:ext cx="4754880" cy="0"/>
          </a:xfrm>
          <a:prstGeom prst="line">
            <a:avLst/>
          </a:prstGeom>
          <a:noFill/>
          <a:ln w="6350">
            <a:solidFill>
              <a:srgbClr val="2440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9202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2103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COMPARISON AGAINST BASELINES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468880"/>
          <a:ext cx="484632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850392"/>
                <a:gridCol w="850392"/>
                <a:gridCol w="85953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Methods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WordNet-based Methods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BERT-based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7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Research Papers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C4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C4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C4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C4B8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6446520" y="4251960"/>
            <a:ext cx="4892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evaluation will compare the proposed framework against these baselines using standard classification metrics, with results presented through comparison tables and graphs.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Contributions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309360" cy="4617720"/>
          </a:xfrm>
          <a:prstGeom prst="roundRect">
            <a:avLst>
              <a:gd name="adj" fmla="val 1584"/>
            </a:avLst>
          </a:prstGeom>
          <a:solidFill>
            <a:srgbClr val="132A4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084832"/>
            <a:ext cx="5349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context-aware framework for detecting polysemous ambiguity in SRS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770632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752344"/>
            <a:ext cx="5349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identification of Inter-Domain ambiguity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438144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419856"/>
            <a:ext cx="5349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mechanism for identifying Intra-Domain ambiguity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105656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087368"/>
            <a:ext cx="5349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ambiguity analysis beyond lexical matching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773168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4754880"/>
            <a:ext cx="5349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ambiguity classification with contextual reasoning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5440680"/>
            <a:ext cx="457200" cy="457200"/>
          </a:xfrm>
          <a:prstGeom prst="ellipse">
            <a:avLst/>
          </a:prstGeom>
          <a:solidFill>
            <a:srgbClr val="1C8F8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422392"/>
            <a:ext cx="5349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SRS quality through early ambiguity detection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86600" y="150876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0F2136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6092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60920" y="2157984"/>
            <a:ext cx="109728" cy="109728"/>
          </a:xfrm>
          <a:prstGeom prst="ellipse">
            <a:avLst/>
          </a:prstGeom>
          <a:solidFill>
            <a:srgbClr val="E8935A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20116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validate on real-world industrial SRS datasets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60920" y="2935224"/>
            <a:ext cx="109728" cy="109728"/>
          </a:xfrm>
          <a:prstGeom prst="ellipse">
            <a:avLst/>
          </a:prstGeom>
          <a:solidFill>
            <a:srgbClr val="E8935A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278892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Large Language Models for deeper contextual reasoning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60920" y="3712464"/>
            <a:ext cx="109728" cy="109728"/>
          </a:xfrm>
          <a:prstGeom prst="ellipse">
            <a:avLst/>
          </a:prstGeom>
          <a:solidFill>
            <a:srgbClr val="E8935A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35661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knowledge graphs for stronger domain relationships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60920" y="4489704"/>
            <a:ext cx="109728" cy="109728"/>
          </a:xfrm>
          <a:prstGeom prst="ellipse">
            <a:avLst/>
          </a:prstGeom>
          <a:solidFill>
            <a:srgbClr val="E8935A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43434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support to multilingual software requirements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360920" y="5266944"/>
            <a:ext cx="109728" cy="109728"/>
          </a:xfrm>
          <a:prstGeom prst="ellipse">
            <a:avLst/>
          </a:prstGeom>
          <a:solidFill>
            <a:srgbClr val="E8935A"/>
          </a:solidFill>
          <a:ln/>
        </p:spPr>
      </p:sp>
      <p:sp>
        <p:nvSpPr>
          <p:cNvPr id="35" name="Text 33"/>
          <p:cNvSpPr/>
          <p:nvPr/>
        </p:nvSpPr>
        <p:spPr>
          <a:xfrm>
            <a:off x="7589520" y="51206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tool and evaluate it in industrial settings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360920" y="5623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has not yet been implemented or experimentally validated; it establishes the conceptual foundation for the implementation and evaluation phase ahead.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2026-07-28T02:49:20Z</dcterms:created>
  <dcterms:modified xsi:type="dcterms:W3CDTF">2026-07-28T02:49:20Z</dcterms:modified>
</cp:coreProperties>
</file>